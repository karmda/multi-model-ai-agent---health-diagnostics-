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60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24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 Vardhan" userId="34806b4a2fd766c9" providerId="LiveId" clId="{2309D1CC-4F6A-4D3B-9228-2A67F28A8940}"/>
    <pc:docChg chg="undo custSel modSld">
      <pc:chgData name="Rishi Vardhan" userId="34806b4a2fd766c9" providerId="LiveId" clId="{2309D1CC-4F6A-4D3B-9228-2A67F28A8940}" dt="2026-01-19T13:29:36.576" v="25" actId="1076"/>
      <pc:docMkLst>
        <pc:docMk/>
      </pc:docMkLst>
      <pc:sldChg chg="modSp mod">
        <pc:chgData name="Rishi Vardhan" userId="34806b4a2fd766c9" providerId="LiveId" clId="{2309D1CC-4F6A-4D3B-9228-2A67F28A8940}" dt="2026-01-19T13:29:36.576" v="25" actId="1076"/>
        <pc:sldMkLst>
          <pc:docMk/>
          <pc:sldMk cId="0" sldId="256"/>
        </pc:sldMkLst>
        <pc:spChg chg="mod">
          <ac:chgData name="Rishi Vardhan" userId="34806b4a2fd766c9" providerId="LiveId" clId="{2309D1CC-4F6A-4D3B-9228-2A67F28A8940}" dt="2026-01-12T13:08:46.718" v="16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Rishi Vardhan" userId="34806b4a2fd766c9" providerId="LiveId" clId="{2309D1CC-4F6A-4D3B-9228-2A67F28A8940}" dt="2026-01-12T13:08:57.318" v="19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Rishi Vardhan" userId="34806b4a2fd766c9" providerId="LiveId" clId="{2309D1CC-4F6A-4D3B-9228-2A67F28A8940}" dt="2026-01-12T13:09:05.382" v="21" actId="1076"/>
          <ac:spMkLst>
            <pc:docMk/>
            <pc:sldMk cId="0" sldId="256"/>
            <ac:spMk id="90" creationId="{00000000-0000-0000-0000-000000000000}"/>
          </ac:spMkLst>
        </pc:spChg>
        <pc:picChg chg="mod">
          <ac:chgData name="Rishi Vardhan" userId="34806b4a2fd766c9" providerId="LiveId" clId="{2309D1CC-4F6A-4D3B-9228-2A67F28A8940}" dt="2026-01-19T13:28:55.613" v="22" actId="1076"/>
          <ac:picMkLst>
            <pc:docMk/>
            <pc:sldMk cId="0" sldId="256"/>
            <ac:picMk id="84" creationId="{00000000-0000-0000-0000-000000000000}"/>
          </ac:picMkLst>
        </pc:picChg>
        <pc:picChg chg="mod">
          <ac:chgData name="Rishi Vardhan" userId="34806b4a2fd766c9" providerId="LiveId" clId="{2309D1CC-4F6A-4D3B-9228-2A67F28A8940}" dt="2026-01-19T13:29:36.576" v="25" actId="1076"/>
          <ac:picMkLst>
            <pc:docMk/>
            <pc:sldMk cId="0" sldId="256"/>
            <ac:picMk id="85" creationId="{00000000-0000-0000-0000-000000000000}"/>
          </ac:picMkLst>
        </pc:picChg>
        <pc:picChg chg="mod">
          <ac:chgData name="Rishi Vardhan" userId="34806b4a2fd766c9" providerId="LiveId" clId="{2309D1CC-4F6A-4D3B-9228-2A67F28A8940}" dt="2026-01-12T13:09:00.869" v="20" actId="1076"/>
          <ac:picMkLst>
            <pc:docMk/>
            <pc:sldMk cId="0" sldId="256"/>
            <ac:picMk id="8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95" y="10048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095" y="671983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3421" y="3444469"/>
            <a:ext cx="3105150" cy="11371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24832" y="1620612"/>
            <a:ext cx="914232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4800" b="1" dirty="0">
                <a:solidFill>
                  <a:schemeClr val="bg1"/>
                </a:solidFill>
              </a:rPr>
              <a:t>Multi-Model AI Agent for Automated Health Diagnostics 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44585" y="3750633"/>
            <a:ext cx="648877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Infosys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2400" b="1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Springboard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2400" b="1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Virtual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2400" b="1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Internship</a:t>
            </a:r>
            <a:endParaRPr sz="2400" b="1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436398" y="4692670"/>
            <a:ext cx="31051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94A3B8"/>
                </a:solidFill>
                <a:latin typeface="Inter"/>
                <a:ea typeface="Inter"/>
                <a:sym typeface="Inter"/>
              </a:rPr>
              <a:t>Chepuri</a:t>
            </a:r>
            <a:r>
              <a:rPr lang="en-US" sz="16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2000" b="1" dirty="0" err="1">
                <a:solidFill>
                  <a:srgbClr val="94A3B8"/>
                </a:solidFill>
                <a:latin typeface="Inter"/>
                <a:ea typeface="Inter"/>
                <a:sym typeface="Inter"/>
              </a:rPr>
              <a:t>Rishivardhan</a:t>
            </a:r>
            <a:endParaRPr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 &amp; Motivation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57225" y="21535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215354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Complex Analysis: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Manual interpretation of blood reports is time-consuming and error-prone due to varying formats.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7225" y="31822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318224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 Risks: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Direct LLM diagnosis is dangerous due to hallucinations and lack of grounding.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" y="39061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390614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Black Box Issue: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Medical AI requires absolute explainability and auditability, not just "magic" answers.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" y="49348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493484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Gap: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Need for a system that combines deterministic accuracy with narrative clarity.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High-Level System Architecture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70420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End-to-End Pipeline: From Raw Data to Validated Explanation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047750" y="4009132"/>
            <a:ext cx="100965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4025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25476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PDF/Images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User Context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5476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2466926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Extractor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508200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OCR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Normalization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36926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308377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Model-2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349650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Deterministic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Reasoning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8376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149827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Model-3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191101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LLM Narrative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Synthesis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9827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991277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UI / Chat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32551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Streamlit App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&amp; Chatbot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61277" y="377100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9832728" y="4437757"/>
            <a:ext cx="17334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LLMEvals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874001" y="4776787"/>
            <a:ext cx="1650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&amp; Safety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0713" y="391388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24063" y="391388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55989" y="391388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21251" y="391388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8889" y="391388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13677" y="391388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Functional Capabilities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462593" y="2478285"/>
            <a:ext cx="171021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Flexible Ingestion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66775" y="2954535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single PDF report upload or ZIP batch processing. Handles varying report layouts and noise via advanced OCR preprocessing.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140880" y="2478285"/>
            <a:ext cx="19102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Context Awareness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645074" y="2954535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Integrates user-specific metadata (age, gender, lifestyle, symptoms) to tailor risk scoring and reference ranges dynamically.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849171" y="2478285"/>
            <a:ext cx="20502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Multi-View Reporting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423374" y="2954535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a unified final report while allowing inspection of individual model outputs (raw JSON, reasoning logs, narrative text).</a:t>
            </a:r>
            <a:endParaRPr/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7200" y="185916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185916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987" y="1859160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1: Extractor &amp; Normalization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19512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Deterministic Data Extraction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57225" y="23556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7250" y="23556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OCR Engine: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Converts PDF/Images to structured text, handling noise and artifacts.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57225" y="30795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57250" y="3079551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Parameter Extraction: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Identifies key biomarkers (e.g., Hemoglobin, Cholesterol) using regex and fuzzy matching.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722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57250" y="4108251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Clinical Normalization: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Maps raw values to standard units and classifies states (Low / Normal / High) based on reference ranges.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7225" y="51369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57250" y="51369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Safety: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This stage is 100% deterministic. No "guessing" by AI models.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 Deterministic Reasoning Engine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381750" y="22560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The Ground Truth Layer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467475" y="2660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667500" y="26604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Pattern Detection: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identifying logical clusters (e.g., Low Iron + Low Hb = Anemia Risk).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467475" y="33843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667500" y="33843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Knowledge Graph: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Uses a hard-coded medical rule set to establish causal links between parameters.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46747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67500" y="41082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Scoring: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Calculates numerical confidence scores for potential conditions.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67475" y="48321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667500" y="48321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Serves as the immutable "fact sheet" that the LLM must adhere to in the next stage.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3: LLM Narrative Synthesis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22560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Safe Explanation, Not Diagnosis</a:t>
            </a:r>
            <a:endParaRPr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657225" y="2660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57250" y="26604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Prompt Grounding: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LLM is fed strictly the facts from Model-2. It cannot invent symptoms or values.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57225" y="33843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57250" y="33843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Strict JSON Schema: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Output is forced into a structured format to prevent rambling.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5722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57250" y="41082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Hallucination checks compare output against Model-2 facts.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57225" y="48321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57250" y="48321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Gemini API: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Chosen for its high adherence to system instructions and JSON reliability.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1371"/>
            <a:ext cx="5238750" cy="1820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21371"/>
            <a:ext cx="5238750" cy="1820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13783"/>
            <a:ext cx="5238750" cy="157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13783"/>
            <a:ext cx="5238750" cy="157713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Model-3 Output Structure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95350" y="2216646"/>
            <a:ext cx="48506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 Summary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95350" y="2620416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concise, non-alarmist overview of the patient's health status derived strictly from the reasoning engine's findings.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705600" y="2216646"/>
            <a:ext cx="48506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Possible Explanations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705600" y="2620416"/>
            <a:ext cx="46196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Contextualizes abnormal values using layman's terms (e.g., "Low Vitamin D can cause fatigue") without confirming a disease.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95350" y="4609058"/>
            <a:ext cx="48506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Lifestyle Guidance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895350" y="5012828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Suggests general wellness improvements (diet, sleep, exercise) relevant to the findings, avoiding specific drug prescriptions.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705600" y="4609058"/>
            <a:ext cx="48506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Doctor Consultation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705600" y="5012828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Explicit flags indicating when professional medical advice is strictly necessary based on risk thresholds.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Chatbot: Exploratory Assistant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6381750" y="22560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Exploration, No Prescription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467475" y="2660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667500" y="26604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Allows users to ask "Should I worry?" or "What does this mean?" in a conversational manner.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467475" y="33843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667500" y="33843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RAG-Style Context: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Responses are bounded by the specific patient report data.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46747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667500" y="41082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Safety Refusal: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Hard-coded logic blocks questions asking for medication or definitive diagnosis.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467475" y="48321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667500" y="48321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Fallback: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Reverts to deterministic "Standard of Care" responses if the LLM is uncertain.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LLMEVALS: Independent Validation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71500" y="22560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The "Judge" Model</a:t>
            </a:r>
            <a:endParaRPr/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657225" y="2660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57250" y="26604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Independent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Separated from the main pipeline to ensure unbiased auditing.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57225" y="33843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57250" y="33843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Pairwise Comparison: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Compares Model-2 (Facts) vs. Model-3 (Narrative) to detect discrepancies.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5722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857250" y="41082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Metrics: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specifically checks for hallucinations, missing signals, and tone appropriateness.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57225" y="48321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57250" y="48321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Groq API: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Utilized for high-speed inference, allowing rapid iterative testing of prompts.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571500" y="571500"/>
            <a:ext cx="52006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Unified Interface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1125735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571500" y="2446585"/>
            <a:ext cx="5200650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Streamlit-Based Dashboard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571500" y="2850951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UI is designed for transparency. Users see the "Final Report" by default but can toggle tabs to inspect the raw data from Model-1 and the reasoning logic of Model-2.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71500" y="4355901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 Trail: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Every step of the pipeline is logged and visible, building trust with technical users and clinicians.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Orchestration (app.py)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1397585" y="2478285"/>
            <a:ext cx="18402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Module Integration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866775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Connects Python modules for Extractor, Reasoning, and Synthesis into a coherent synchronous pipeline.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615940" y="2478285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 Flow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645074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Manages I/O operations, passing JSON artifacts between stages and saving outputs to the local file system.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9214217" y="2478285"/>
            <a:ext cx="13201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Session State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423374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Maintains user context and report data across UI re-renders in Streamlit, ensuring a smooth UX.</a:t>
            </a:r>
            <a:endParaRPr/>
          </a:p>
        </p:txBody>
      </p:sp>
      <p:pic>
        <p:nvPicPr>
          <p:cNvPr id="296" name="Google Shape;29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185916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185916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185916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Dockerization &amp; Deployment</a:t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11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6381750" y="225608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Isolation &amp; Reproducibility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467475" y="26604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667500" y="26604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Per-Module Dockerfiles: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Ensures dependencies for OCR (Tesseract) and LLM libraries do not conflict.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467475" y="33843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6667500" y="33843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Unified UI Container: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Dockerfile.ui orchestrates the frontend presentation layer.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467475" y="4108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667500" y="41082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Modular containerization allows individual components to be scaled or updated independently.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467475" y="48321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6667500" y="48321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Ready for cloud deployment on AWS ECS or similar container services.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25785"/>
            <a:ext cx="3492549" cy="476071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571500" y="571500"/>
            <a:ext cx="11601450" cy="43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Safety, Ethics &amp; Guardrails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571500" y="112573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1682621" y="2478285"/>
            <a:ext cx="12701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No Diagnosis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866775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 is strictly framed as a decision support tool. It never claims to replace a doctor's diagnosis.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5175885" y="2478285"/>
            <a:ext cx="18402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Deterministic Truth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4645074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reasoning is rule-based. The AI explains the rules; it does not invent them.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9129206" y="2478285"/>
            <a:ext cx="149018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Full Auditability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8423374" y="2954535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claim in the final report can be traced back to a specific line in the raw blood report data.</a:t>
            </a:r>
            <a:endParaRPr/>
          </a:p>
        </p:txBody>
      </p:sp>
      <p:pic>
        <p:nvPicPr>
          <p:cNvPr id="333" name="Google Shape;33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185916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185916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1424" y="1859160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2675572" y="1229022"/>
            <a:ext cx="684085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 &amp; Key Takeaways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5619750" y="2253853"/>
            <a:ext cx="9525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2286000" y="2787253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Differentiation: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Combines the safety of rule-based systems with the accessibility of LLMs.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2286000" y="374719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Safety First: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Architecture prevents "black box" failure modes common in end-to-end AI.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2286000" y="4707135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Relevance: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 realistic template for regulatory-compliant medical AI deployment.</a:t>
            </a:r>
            <a:endParaRPr/>
          </a:p>
        </p:txBody>
      </p:sp>
      <p:pic>
        <p:nvPicPr>
          <p:cNvPr id="347" name="Google Shape;34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284440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380434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0" y="476428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1006</Words>
  <Application>Microsoft Office PowerPoint</Application>
  <PresentationFormat>Widescreen</PresentationFormat>
  <Paragraphs>124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Inter SemiBold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Rishi Vardhan</cp:lastModifiedBy>
  <cp:revision>2</cp:revision>
  <dcterms:modified xsi:type="dcterms:W3CDTF">2026-01-19T13:29:40Z</dcterms:modified>
</cp:coreProperties>
</file>